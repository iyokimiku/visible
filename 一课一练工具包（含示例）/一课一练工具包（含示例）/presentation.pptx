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3716000" cy="7715250"/>
  <p:notesSz cx="7715250" cy="1371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42900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一课一练 · 项目汇报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737592"/>
            <a:ext cx="150876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8"/>
              </a:spcBef>
              <a:spcAft>
                <a:spcPts val="1608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一课一练试卷</a:t>
            </a:r>
            <a:endParaRPr lang="en-US" sz="2400" dirty="0"/>
          </a:p>
          <a:p>
            <a:pPr algn="l" indent="0" marL="0">
              <a:spcBef>
                <a:spcPts val="1608"/>
              </a:spcBef>
              <a:spcAft>
                <a:spcPts val="1608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生成工具包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0" y="1722834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AI驱动的高职分类考试试卷批量生产系统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0" y="2065734"/>
            <a:ext cx="8269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2026年6月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96826" y="2065734"/>
            <a:ext cx="6705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项目汇报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42900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核心问题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723007"/>
            <a:ext cx="15087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94"/>
              </a:spcBef>
              <a:spcAft>
                <a:spcPts val="1494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为什么需要这个工具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1198364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高职分类考试需要大量一课一练试卷——人工效率低，AI裸出质量差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0" y="1550789"/>
            <a:ext cx="21971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🐢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0" y="1919585"/>
            <a:ext cx="1508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4"/>
              </a:spcBef>
              <a:spcAft>
                <a:spcPts val="1404"/>
              </a:spcAft>
              <a:buNone/>
            </a:pPr>
            <a:r>
              <a:rPr lang="en-US" sz="1404" b="1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人工效率瓶颈</a:t>
            </a:r>
            <a:endParaRPr lang="en-US" sz="1404" dirty="0"/>
          </a:p>
        </p:txBody>
      </p:sp>
      <p:sp>
        <p:nvSpPr>
          <p:cNvPr id="7" name="Text 5"/>
          <p:cNvSpPr/>
          <p:nvPr/>
        </p:nvSpPr>
        <p:spPr>
          <a:xfrm>
            <a:off x="0" y="2326481"/>
            <a:ext cx="1508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每人每天最多出 1-2 套</a:t>
            </a:r>
            <a:endParaRPr lang="en-US" sz="1200" dirty="0"/>
          </a:p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无法覆盖多省多考类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0" y="2859881"/>
            <a:ext cx="1440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0" y="3212306"/>
            <a:ext cx="21971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🎲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0" y="3581102"/>
            <a:ext cx="1508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4"/>
              </a:spcBef>
              <a:spcAft>
                <a:spcPts val="1404"/>
              </a:spcAft>
              <a:buNone/>
            </a:pPr>
            <a:r>
              <a:rPr lang="en-US" sz="1404" b="1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AI裸出质量差</a:t>
            </a:r>
            <a:endParaRPr lang="en-US" sz="1404" dirty="0"/>
          </a:p>
        </p:txBody>
      </p:sp>
      <p:sp>
        <p:nvSpPr>
          <p:cNvPr id="11" name="Text 9"/>
          <p:cNvSpPr/>
          <p:nvPr/>
        </p:nvSpPr>
        <p:spPr>
          <a:xfrm>
            <a:off x="0" y="3987998"/>
            <a:ext cx="1508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风格不统一、知识不准</a:t>
            </a:r>
            <a:endParaRPr lang="en-US" sz="1200" dirty="0"/>
          </a:p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格式混乱、无质检体系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0" y="4521398"/>
            <a:ext cx="1440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0" y="4873823"/>
            <a:ext cx="21971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🎯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0" y="5242620"/>
            <a:ext cx="1508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4"/>
              </a:spcBef>
              <a:spcAft>
                <a:spcPts val="1404"/>
              </a:spcAft>
              <a:buNone/>
            </a:pPr>
            <a:r>
              <a:rPr lang="en-US" sz="1404" b="1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缺乏系统管理</a:t>
            </a:r>
            <a:endParaRPr lang="en-US" sz="1404" dirty="0"/>
          </a:p>
        </p:txBody>
      </p:sp>
      <p:sp>
        <p:nvSpPr>
          <p:cNvPr id="15" name="Text 13"/>
          <p:cNvSpPr/>
          <p:nvPr/>
        </p:nvSpPr>
        <p:spPr>
          <a:xfrm>
            <a:off x="0" y="5649516"/>
            <a:ext cx="1508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跨省跨考类命题差异大</a:t>
            </a:r>
            <a:endParaRPr lang="en-US" sz="1200" dirty="0"/>
          </a:p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缺乏统一流程和规范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0" y="6182916"/>
            <a:ext cx="1440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42900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核心设计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723007"/>
            <a:ext cx="15087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94"/>
              </a:spcBef>
              <a:spcAft>
                <a:spcPts val="1494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不只是让 AI 出题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1198364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七层控制体系——把风格从知识里拆出来，把质量从生成里独立出来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0" y="1541264"/>
            <a:ext cx="1440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1-2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0" y="1884164"/>
            <a:ext cx="5029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第一层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0" y="2227064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教材目录 → 定主题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0" y="2569964"/>
            <a:ext cx="1600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→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0" y="2760464"/>
            <a:ext cx="5029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第二层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0" y="3103364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考纲 → 定知识边界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0" y="3446264"/>
            <a:ext cx="1440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3-4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0" y="3789164"/>
            <a:ext cx="5029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第三层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0" y="4132064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规划表 → 定题量题型难度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0" y="4474964"/>
            <a:ext cx="1600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0" y="4665464"/>
            <a:ext cx="5029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第四层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0" y="5008364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编写规范 → 定质量底线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0" y="5351264"/>
            <a:ext cx="1440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5-7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0" y="5694164"/>
            <a:ext cx="5029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第五层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0" y="6037064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题型定义 → 考类画像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0" y="6379964"/>
            <a:ext cx="1600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0" y="6570464"/>
            <a:ext cx="5029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第六层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0" y="6913364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真题风格 → 设问方式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0" y="7256264"/>
            <a:ext cx="1600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→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0" y="7446764"/>
            <a:ext cx="5029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第七层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0" y="7789664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质检修复 → 交付质量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0" y="8132564"/>
            <a:ext cx="144018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💡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0" y="8484989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设计原则：</a:t>
            </a:r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每层独立可控，层与层之间通过规划表串联。把风格从知识里拆出来，把质量从生成里独立出来——这是AI出题从"能用"到"好用"的关键一步。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42900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核心流程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723007"/>
            <a:ext cx="15087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94"/>
              </a:spcBef>
              <a:spcAft>
                <a:spcPts val="1494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从考纲到 Word 的标准化流水线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1198364"/>
            <a:ext cx="144018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📋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0" y="1550789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准备资料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0" y="1893689"/>
            <a:ext cx="1508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考纲+教材+真题</a:t>
            </a:r>
            <a:endParaRPr lang="en-US" sz="1200" dirty="0"/>
          </a:p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风格库+题型定义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0" y="2427089"/>
            <a:ext cx="1440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→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0" y="2769989"/>
            <a:ext cx="144018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📐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0" y="3122414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生成规划表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0" y="3465314"/>
            <a:ext cx="1508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8列xlsx</a:t>
            </a:r>
            <a:endParaRPr lang="en-US" sz="1200" dirty="0"/>
          </a:p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教材目录优先匹配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0" y="3998714"/>
            <a:ext cx="1440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→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0" y="4341614"/>
            <a:ext cx="144018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🤖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0" y="4694039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AI 生成试卷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0" y="5036939"/>
            <a:ext cx="1508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读取全部参考资料</a:t>
            </a:r>
            <a:endParaRPr lang="en-US" sz="1200" dirty="0"/>
          </a:p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构建精准prompt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0" y="5570339"/>
            <a:ext cx="1440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0" y="5913239"/>
            <a:ext cx="144018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🔍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0" y="6265664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质检修复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0" y="6608564"/>
            <a:ext cx="1508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6维度自动检测</a:t>
            </a:r>
            <a:endParaRPr lang="en-US" sz="1200" dirty="0"/>
          </a:p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定向修复问题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0" y="7141964"/>
            <a:ext cx="1440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→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0" y="7484864"/>
            <a:ext cx="144018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📦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0" y="7837289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Word 交付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0" y="8180189"/>
            <a:ext cx="1508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教师版+学生版</a:t>
            </a:r>
            <a:endParaRPr lang="en-US" sz="1200" dirty="0"/>
          </a:p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+txt +zip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0" y="8739485"/>
            <a:ext cx="1508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4"/>
              </a:spcBef>
              <a:spcAft>
                <a:spcPts val="1404"/>
              </a:spcAft>
              <a:buNone/>
            </a:pPr>
            <a:r>
              <a:rPr lang="en-US" sz="1404" b="1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关键节点</a:t>
            </a:r>
            <a:endParaRPr lang="en-US" sz="1404" dirty="0"/>
          </a:p>
        </p:txBody>
      </p:sp>
      <p:sp>
        <p:nvSpPr>
          <p:cNvPr id="24" name="Text 22"/>
          <p:cNvSpPr/>
          <p:nvPr/>
        </p:nvSpPr>
        <p:spPr>
          <a:xfrm>
            <a:off x="0" y="9146381"/>
            <a:ext cx="1440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0" y="9489281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真题只做风格参考不照搬内容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0" y="9832181"/>
            <a:ext cx="1440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0" y="10175081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规划表是整个流程的"总控制器"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0" y="10517981"/>
            <a:ext cx="1440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0" y="10860881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资料齐全 + prompt精确 = 生成可控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0" y="11203781"/>
            <a:ext cx="1440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0" y="11546681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每批≤3卷，分批控制避免超时丢失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42900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质量控制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723007"/>
            <a:ext cx="15087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94"/>
              </a:spcBef>
              <a:spcAft>
                <a:spcPts val="1494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一张表管住所有试卷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1198364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8列 · 序号 | 知识点 | 主题 | 级别 | 题型 | 难度 | 套数 | 标号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0" y="1541264"/>
            <a:ext cx="1959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#1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31725" y="1541264"/>
            <a:ext cx="37314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机器组成 → 标准 → 单选+填空+综合 → 80:10:10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0" y="1731764"/>
            <a:ext cx="1959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#2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31725" y="1731764"/>
            <a:ext cx="292420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力学性能(一) → 极重要 → 同上 → 同上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0" y="1922264"/>
            <a:ext cx="1959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#3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31725" y="1922264"/>
            <a:ext cx="292420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力学性能(二) → 极重要 → 同上 → 同上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0" y="2112764"/>
            <a:ext cx="1959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#4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31725" y="2112764"/>
            <a:ext cx="281222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金属力学性能 → 标准 → 同上 → 同上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0" y="2455664"/>
            <a:ext cx="1440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......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0" y="2798564"/>
            <a:ext cx="1440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8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0" y="3141464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列结构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0" y="3484364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序号·知识点·主题·级别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0" y="4360664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3级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0" y="4703564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标题体系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0" y="5046464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一级(单元)→二级(章)→主题(节)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0" y="5922764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1表1书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0" y="6265664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独立拆分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0" y="6608564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每本教材独立xlsx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42900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风格蒸馏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723007"/>
            <a:ext cx="15087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94"/>
              </a:spcBef>
              <a:spcAft>
                <a:spcPts val="1494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让 AI 出的题像真题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1198364"/>
            <a:ext cx="150876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4"/>
              </a:spcBef>
              <a:spcAft>
                <a:spcPts val="1404"/>
              </a:spcAft>
              <a:buNone/>
            </a:pPr>
            <a:r>
              <a:rPr lang="en-US" sz="1404" b="1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⚙️ 风格抽取流程</a:t>
            </a:r>
            <a:endParaRPr lang="en-US" sz="1404" dirty="0"/>
          </a:p>
        </p:txBody>
      </p:sp>
      <p:sp>
        <p:nvSpPr>
          <p:cNvPr id="5" name="Text 3"/>
          <p:cNvSpPr/>
          <p:nvPr/>
        </p:nvSpPr>
        <p:spPr>
          <a:xfrm>
            <a:off x="0" y="1614785"/>
            <a:ext cx="150876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📄 历年真题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0" y="1967210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PDF提取/OCR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0" y="2310110"/>
            <a:ext cx="1600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→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0" y="2653010"/>
            <a:ext cx="150876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🧠 风格提炼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0" y="3005435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按题型维度汇总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0" y="3348335"/>
            <a:ext cx="1600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0" y="3691235"/>
            <a:ext cx="150876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📋 风格库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0" y="4043660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9类风格文件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0" y="4386560"/>
            <a:ext cx="6705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风格总则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4695" y="4386560"/>
            <a:ext cx="6705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单选风格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09390" y="4386560"/>
            <a:ext cx="6705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多选风格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64085" y="4386560"/>
            <a:ext cx="6705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判断风格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18780" y="4386560"/>
            <a:ext cx="6705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填空风格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73475" y="4386560"/>
            <a:ext cx="6705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简答风格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28170" y="4386560"/>
            <a:ext cx="6705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计算风格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82864" y="4386560"/>
            <a:ext cx="6705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综合风格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37559" y="4386560"/>
            <a:ext cx="6705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代表样题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0" y="4729460"/>
            <a:ext cx="150876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❌ 无风格引导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0" y="5081885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AI自由发挥·风格随机·选项结构不一致·解析长短不一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0" y="5424785"/>
            <a:ext cx="150876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✅ 有风格引导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0" y="5777210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设问口吻贴近真题·选项结构统一·解析风格一致·口吻一致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0" y="6129635"/>
            <a:ext cx="1378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⚠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0" y="6472535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安全边界：</a:t>
            </a:r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真题不用于知识依据，不得照搬题干、选项、情境或数值。只迁移风格，不迁移内容。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42900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技术架构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723007"/>
            <a:ext cx="15087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94"/>
              </a:spcBef>
              <a:spcAft>
                <a:spcPts val="1494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10个模块构建一条生产线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1198364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create.py </a:t>
            </a:r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— 主入口 · 调度中心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0" y="1567160"/>
            <a:ext cx="150876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4"/>
              </a:spcBef>
              <a:spcAft>
                <a:spcPts val="1404"/>
              </a:spcAft>
              <a:buNone/>
            </a:pPr>
            <a:r>
              <a:rPr lang="en-US" sz="1404" b="1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📋</a:t>
            </a:r>
            <a:pPr algn="l" indent="0" marL="0">
              <a:spcBef>
                <a:spcPts val="1404"/>
              </a:spcBef>
              <a:spcAft>
                <a:spcPts val="1404"/>
              </a:spcAft>
              <a:buNone/>
            </a:pPr>
            <a:r>
              <a:rPr lang="en-US" sz="1404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配置与规划层</a:t>
            </a:r>
            <a:endParaRPr lang="en-US" sz="1404" dirty="0"/>
          </a:p>
        </p:txBody>
      </p:sp>
      <p:sp>
        <p:nvSpPr>
          <p:cNvPr id="6" name="Text 4"/>
          <p:cNvSpPr/>
          <p:nvPr/>
        </p:nvSpPr>
        <p:spPr>
          <a:xfrm>
            <a:off x="0" y="1983581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config_io.py</a:t>
            </a:r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配置·API调用·用量统计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0" y="2326481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planning.py</a:t>
            </a:r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解析规划表·确定输出路径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0" y="2669381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references.py（加载教材·真题风格库·题型定义·编写规范）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0" y="3038177"/>
            <a:ext cx="150876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4"/>
              </a:spcBef>
              <a:spcAft>
                <a:spcPts val="1404"/>
              </a:spcAft>
              <a:buNone/>
            </a:pPr>
            <a:r>
              <a:rPr lang="en-US" sz="1404" b="1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🤖</a:t>
            </a:r>
            <a:pPr algn="l" indent="0" marL="0">
              <a:spcBef>
                <a:spcPts val="1404"/>
              </a:spcBef>
              <a:spcAft>
                <a:spcPts val="1404"/>
              </a:spcAft>
              <a:buNone/>
            </a:pPr>
            <a:r>
              <a:rPr lang="en-US" sz="1404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生成与处理层</a:t>
            </a:r>
            <a:endParaRPr lang="en-US" sz="1404" dirty="0"/>
          </a:p>
        </p:txBody>
      </p:sp>
      <p:sp>
        <p:nvSpPr>
          <p:cNvPr id="10" name="Text 8"/>
          <p:cNvSpPr/>
          <p:nvPr/>
        </p:nvSpPr>
        <p:spPr>
          <a:xfrm>
            <a:off x="0" y="3454598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prompts.py</a:t>
            </a:r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构建AI生成提示词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0" y="3797498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text_generation.py</a:t>
            </a:r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生成+清洗处理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0" y="4140398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text_processing.py（文本清理·格式标准化）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0" y="4509195"/>
            <a:ext cx="150876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4"/>
              </a:spcBef>
              <a:spcAft>
                <a:spcPts val="1404"/>
              </a:spcAft>
              <a:buNone/>
            </a:pPr>
            <a:r>
              <a:rPr lang="en-US" sz="1404" b="1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🔍</a:t>
            </a:r>
            <a:pPr algn="l" indent="0" marL="0">
              <a:spcBef>
                <a:spcPts val="1404"/>
              </a:spcBef>
              <a:spcAft>
                <a:spcPts val="1404"/>
              </a:spcAft>
              <a:buNone/>
            </a:pPr>
            <a:r>
              <a:rPr lang="en-US" sz="1404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质检与交付层</a:t>
            </a:r>
            <a:endParaRPr lang="en-US" sz="1404" dirty="0"/>
          </a:p>
        </p:txBody>
      </p:sp>
      <p:sp>
        <p:nvSpPr>
          <p:cNvPr id="14" name="Text 12"/>
          <p:cNvSpPr/>
          <p:nvPr/>
        </p:nvSpPr>
        <p:spPr>
          <a:xfrm>
            <a:off x="0" y="4925616"/>
            <a:ext cx="1440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quality.py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0" y="5268516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6维质检·定向修复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0" y="5611416"/>
            <a:ext cx="1440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docx_generation.py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0" y="5954316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Word文档生成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0" y="6297216"/>
            <a:ext cx="1440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postprocess.py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0" y="6640116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格式修复·公式转换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0" y="6983016"/>
            <a:ext cx="1440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runner.py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0" y="7325916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主流程编排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0" y="7668816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输出：解析版docx（教师）+ 原卷版docx（学生）+ txt + zip · check.py深度检查 · batch_fix_math批量公式修复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42900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资料处理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723007"/>
            <a:ext cx="15087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94"/>
              </a:spcBef>
              <a:spcAft>
                <a:spcPts val="1494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三套 OCR 引擎，一个都跑不掉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1207889"/>
            <a:ext cx="21971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⚡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0" y="1576685"/>
            <a:ext cx="1440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4"/>
              </a:spcBef>
              <a:spcAft>
                <a:spcPts val="1404"/>
              </a:spcAft>
              <a:buNone/>
            </a:pPr>
            <a:r>
              <a:rPr lang="en-US" sz="1404" b="1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RapidOCR</a:t>
            </a:r>
            <a:endParaRPr lang="en-US" sz="1404" dirty="0"/>
          </a:p>
        </p:txBody>
      </p:sp>
      <p:sp>
        <p:nvSpPr>
          <p:cNvPr id="6" name="Text 4"/>
          <p:cNvSpPr/>
          <p:nvPr/>
        </p:nvSpPr>
        <p:spPr>
          <a:xfrm>
            <a:off x="0" y="1983581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标准图片型PDF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0" y="2326481"/>
            <a:ext cx="150876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▸ ocr_pdf.py 主引擎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0" y="2688431"/>
            <a:ext cx="150876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▸ 输出 txt/json/md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0" y="3050381"/>
            <a:ext cx="150876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▸ 无需额外依赖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0" y="3421856"/>
            <a:ext cx="21971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📖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0" y="3790652"/>
            <a:ext cx="1440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4"/>
              </a:spcBef>
              <a:spcAft>
                <a:spcPts val="1404"/>
              </a:spcAft>
              <a:buNone/>
            </a:pPr>
            <a:r>
              <a:rPr lang="en-US" sz="1404" b="1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Tesseract</a:t>
            </a:r>
            <a:endParaRPr lang="en-US" sz="1404" dirty="0"/>
          </a:p>
        </p:txBody>
      </p:sp>
      <p:sp>
        <p:nvSpPr>
          <p:cNvPr id="12" name="Text 10"/>
          <p:cNvSpPr/>
          <p:nvPr/>
        </p:nvSpPr>
        <p:spPr>
          <a:xfrm>
            <a:off x="0" y="4197548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教材目录结构化扫描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0" y="4540448"/>
            <a:ext cx="14401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▸ textbook_toc_scanner.py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0" y="4902398"/>
            <a:ext cx="150876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▸ 目录检测+层级解析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0" y="5264348"/>
            <a:ext cx="150876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▸ 输出 structured JSON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0" y="5635823"/>
            <a:ext cx="1600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🛡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0" y="6004620"/>
            <a:ext cx="1440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4"/>
              </a:spcBef>
              <a:spcAft>
                <a:spcPts val="1404"/>
              </a:spcAft>
              <a:buNone/>
            </a:pPr>
            <a:r>
              <a:rPr lang="en-US" sz="1404" b="1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PyMuPDF</a:t>
            </a:r>
            <a:endParaRPr lang="en-US" sz="1404" dirty="0"/>
          </a:p>
        </p:txBody>
      </p:sp>
      <p:sp>
        <p:nvSpPr>
          <p:cNvPr id="18" name="Text 16"/>
          <p:cNvSpPr/>
          <p:nvPr/>
        </p:nvSpPr>
        <p:spPr>
          <a:xfrm>
            <a:off x="0" y="6411516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真题OCR兜底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0" y="6754416"/>
            <a:ext cx="14401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▸ extract_exam_style.py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0" y="7116366"/>
            <a:ext cx="150876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▸ --ocr-pdf 自动启用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0" y="7478316"/>
            <a:ext cx="150876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▸ 高清渲染+Tesseract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0" y="7840266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自动缓存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0" y="8183166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避免重复OCR处理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0" y="8526066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目录页检测算法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0" y="8868966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关键词+结构+反向惩罚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0" y="9211866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3套全覆盖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0" y="9554766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文字型/扫描型/混合型PDF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42900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质量保障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723007"/>
            <a:ext cx="15087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94"/>
              </a:spcBef>
              <a:spcAft>
                <a:spcPts val="1494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六维质检保证交付质量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1198364"/>
            <a:ext cx="144018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✅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0" y="1550789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题量检查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0" y="1893689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是否与规划表一致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0" y="2236589"/>
            <a:ext cx="144018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🚫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0" y="2589014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自暴露检测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0" y="2931914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答案是否在题干中出现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0" y="3274814"/>
            <a:ext cx="144018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⚖️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0" y="3627239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选项失衡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0" y="3970139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长度是否明显不均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0" y="4313039"/>
            <a:ext cx="144018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📊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0" y="4665464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答案分布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0" y="5008364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是否过度集中某选项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0" y="5351264"/>
            <a:ext cx="144018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📝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0" y="5703689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解析质量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0" y="6046589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是否过短或空泛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0" y="6389489"/>
            <a:ext cx="144018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📄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0" y="6741914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Word格式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0" y="7084814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公式·答案·段落格式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0" y="7453610"/>
            <a:ext cx="150876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4"/>
              </a:spcBef>
              <a:spcAft>
                <a:spcPts val="1404"/>
              </a:spcAft>
              <a:buNone/>
            </a:pPr>
            <a:r>
              <a:rPr lang="en-US" sz="1404" b="1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🔧 自动修复能力</a:t>
            </a:r>
            <a:endParaRPr lang="en-US" sz="1404" dirty="0"/>
          </a:p>
        </p:txBody>
      </p:sp>
      <p:sp>
        <p:nvSpPr>
          <p:cNvPr id="23" name="Text 21"/>
          <p:cNvSpPr/>
          <p:nvPr/>
        </p:nvSpPr>
        <p:spPr>
          <a:xfrm>
            <a:off x="0" y="7870031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答案分布重排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0" y="8212931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检测过度集中→重排选项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0" y="8555831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公式转换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0" y="8898731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标记→Word原生公式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0" y="9241631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样式批量修复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0" y="9584531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答案/解析格式统一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0" y="9927431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API深度检查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0" y="10270331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check.py辅助质检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0" y="10613231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质量闭环：</a:t>
            </a:r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AI生成 → 自动质检 → 定向修复 → 格式修复 → 人工抽查 —— 全链路自动化可管理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42900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成果展示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723007"/>
            <a:ext cx="15087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94"/>
              </a:spcBef>
              <a:spcAft>
                <a:spcPts val="1494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已覆盖 3 省 6 考类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1198364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重庆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0" y="1541264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5个考类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0" y="1884164"/>
            <a:ext cx="150876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▸ 机械加工类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0" y="2246114"/>
            <a:ext cx="150876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▸ 汽车类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0" y="2608064"/>
            <a:ext cx="150876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▸ 电气技术类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0" y="2970014"/>
            <a:ext cx="150876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▸ 电子技术类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0" y="3331964"/>
            <a:ext cx="150876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▸ 土建类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0" y="3693914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四川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0" y="4036814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1个考类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0" y="4379714"/>
            <a:ext cx="150876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▸ 汽车类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0" y="4741664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教材：汽车构造·底盘·电气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0" y="5084564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内蒙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0" y="5427464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1个考类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0" y="5770364"/>
            <a:ext cx="150876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▸ 机电类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0" y="6132314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教材：电工·电子·计算机·网络·植保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0" y="6501110"/>
            <a:ext cx="1508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4"/>
              </a:spcBef>
              <a:spcAft>
                <a:spcPts val="1404"/>
              </a:spcAft>
              <a:buNone/>
            </a:pPr>
            <a:r>
              <a:rPr lang="en-US" sz="1404" b="1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标准化扩展：新增省份只需5步</a:t>
            </a:r>
            <a:endParaRPr lang="en-US" sz="1404" dirty="0"/>
          </a:p>
        </p:txBody>
      </p:sp>
      <p:sp>
        <p:nvSpPr>
          <p:cNvPr id="20" name="Text 18"/>
          <p:cNvSpPr/>
          <p:nvPr/>
        </p:nvSpPr>
        <p:spPr>
          <a:xfrm>
            <a:off x="0" y="6908006"/>
            <a:ext cx="150876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📄 考纲PDF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0" y="7260431"/>
            <a:ext cx="1600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→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0" y="7603331"/>
            <a:ext cx="150876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📖 教材PDF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0" y="7955756"/>
            <a:ext cx="1600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→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0" y="8298656"/>
            <a:ext cx="150876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📝 历年真题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0" y="8651081"/>
            <a:ext cx="1600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→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0" y="8993981"/>
            <a:ext cx="150876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🎨 风格库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0" y="9346406"/>
            <a:ext cx="1600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0" y="9689306"/>
            <a:ext cx="150876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📋 规划表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0" y="10051256"/>
            <a:ext cx="11656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📘 教师版docx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0" y="10241756"/>
            <a:ext cx="43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|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0" y="10441781"/>
            <a:ext cx="11656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📙 学生版docx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0" y="10632281"/>
            <a:ext cx="43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|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0" y="10832306"/>
            <a:ext cx="82755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📄 原始txt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0" y="11022806"/>
            <a:ext cx="43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|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0" y="11222831"/>
            <a:ext cx="118444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📦 zip批量打包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42900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数据总览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723007"/>
            <a:ext cx="15087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94"/>
              </a:spcBef>
              <a:spcAft>
                <a:spcPts val="1494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项目规模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1198364"/>
            <a:ext cx="1440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0" y="1541264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覆盖省份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0" y="1884164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重庆·四川·内蒙古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0" y="2227064"/>
            <a:ext cx="1440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0" y="2569964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覆盖考类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0" y="2912864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机械·汽车·电气等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0" y="3255764"/>
            <a:ext cx="1440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56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0" y="3598664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Python脚本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0" y="3941564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10个核心模块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0" y="4284464"/>
            <a:ext cx="1440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323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0" y="4627364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已产出Word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0" y="4970264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+224文本+133zip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0" y="5339060"/>
            <a:ext cx="1508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4"/>
              </a:spcBef>
              <a:spcAft>
                <a:spcPts val="1404"/>
              </a:spcAft>
              <a:buNone/>
            </a:pPr>
            <a:r>
              <a:rPr lang="en-US" sz="1404" b="1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产出分布</a:t>
            </a:r>
            <a:endParaRPr lang="en-US" sz="1404" dirty="0"/>
          </a:p>
        </p:txBody>
      </p:sp>
      <p:sp>
        <p:nvSpPr>
          <p:cNvPr id="17" name="Text 15"/>
          <p:cNvSpPr/>
          <p:nvPr/>
        </p:nvSpPr>
        <p:spPr>
          <a:xfrm>
            <a:off x="0" y="5745956"/>
            <a:ext cx="77697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Word文档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06338" y="5745956"/>
            <a:ext cx="28159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323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0" y="5936456"/>
            <a:ext cx="6705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原始文本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9600" y="5936456"/>
            <a:ext cx="28159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224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0" y="6126956"/>
            <a:ext cx="5909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Zip打包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7270" y="6126956"/>
            <a:ext cx="28159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133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0" y="6317456"/>
            <a:ext cx="6988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PNG导出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5347" y="6317456"/>
            <a:ext cx="1876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46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0" y="6686252"/>
            <a:ext cx="1508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4"/>
              </a:spcBef>
              <a:spcAft>
                <a:spcPts val="1404"/>
              </a:spcAft>
              <a:buNone/>
            </a:pPr>
            <a:r>
              <a:rPr lang="en-US" sz="1404" b="1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能力覆盖</a:t>
            </a:r>
            <a:endParaRPr lang="en-US" sz="1404" dirty="0"/>
          </a:p>
        </p:txBody>
      </p:sp>
      <p:sp>
        <p:nvSpPr>
          <p:cNvPr id="26" name="Text 24"/>
          <p:cNvSpPr/>
          <p:nvPr/>
        </p:nvSpPr>
        <p:spPr>
          <a:xfrm>
            <a:off x="0" y="7093148"/>
            <a:ext cx="144018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📝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0" y="7445573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7+种题型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0" y="7788473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单选·多选·判断·填空·简答·计算·综合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0" y="8131373"/>
            <a:ext cx="144018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📖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0" y="8483798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9+本教材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0" y="8826698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机械基础·制图·电工电子·计算机等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0" y="9169598"/>
            <a:ext cx="144018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🔄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0" y="9522023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3套OCR方案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0" y="9864923"/>
            <a:ext cx="1440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RapidOCR·Tesseract·PyMuPDF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0" y="10207823"/>
            <a:ext cx="144018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📋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0" y="10560248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标准化扩展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0" y="10903148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新增省份5步上线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94692"/>
            <a:ext cx="150876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8"/>
              </a:spcBef>
              <a:spcAft>
                <a:spcPts val="1608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谢谢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0" y="989409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一课一练试卷生成工具包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0" y="1332309"/>
            <a:ext cx="150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AI驱动的高职分类考试试卷批量生产系统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0" y="1675209"/>
            <a:ext cx="9365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7层控制体系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0" y="1865709"/>
            <a:ext cx="838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规划表驱动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0" y="2056209"/>
            <a:ext cx="10058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真题风格蒸馏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0" y="2246709"/>
            <a:ext cx="11042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6维自动化质检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0" y="2437209"/>
            <a:ext cx="103481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3省6考类覆盖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0" y="2627709"/>
            <a:ext cx="1173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标准化扩展流程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2026-06-26T09:25:29Z</dcterms:created>
  <dcterms:modified xsi:type="dcterms:W3CDTF">2026-06-26T09:25:29Z</dcterms:modified>
</cp:coreProperties>
</file>